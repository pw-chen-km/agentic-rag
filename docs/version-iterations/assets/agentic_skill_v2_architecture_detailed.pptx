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b81b4d3fe4e2c" /><Relationship Type="http://schemas.openxmlformats.org/officeDocument/2006/relationships/extended-properties" Target="/docProps/app.xml" Id="R3357fc66e8dd4ebc" /><Relationship Type="http://schemas.openxmlformats.org/officeDocument/2006/relationships/officeDocument" Target="/ppt/presentation.xml" Id="R9ed8a73bcb314e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33f014cbc4cc7"/>
  </p:sldMasterIdLst>
  <p:notesMasterIdLst>
    <p:notesMasterId xmlns:r="http://schemas.openxmlformats.org/officeDocument/2006/relationships" r:id="R9887e5b246a0445f"/>
  </p:notesMasterIdLst>
  <p:sldIdLst>
    <p:sldId xmlns:r="http://schemas.openxmlformats.org/officeDocument/2006/relationships" id="256" r:id="R94c7ec2aba7c4a08"/>
    <p:sldId xmlns:r="http://schemas.openxmlformats.org/officeDocument/2006/relationships" id="257" r:id="R8dd425dafb75406e"/>
    <p:sldId xmlns:r="http://schemas.openxmlformats.org/officeDocument/2006/relationships" id="258" r:id="Rd2e4889692a04746"/>
    <p:sldId xmlns:r="http://schemas.openxmlformats.org/officeDocument/2006/relationships" id="259" r:id="R46980ac2450d4c10"/>
    <p:sldId xmlns:r="http://schemas.openxmlformats.org/officeDocument/2006/relationships" id="260" r:id="R6a6fd346111944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8edd8aa8d4f77" /><Relationship Type="http://schemas.openxmlformats.org/officeDocument/2006/relationships/slideMaster" Target="/ppt/slideMasters/slideMaster1.xml" Id="R52733f014cbc4cc7" /><Relationship Type="http://schemas.openxmlformats.org/officeDocument/2006/relationships/notesMaster" Target="/ppt/notesMasters/notesMaster1.xml" Id="R9887e5b246a0445f" /><Relationship Type="http://schemas.openxmlformats.org/officeDocument/2006/relationships/presProps" Target="/ppt/presProps.xml" Id="Rf68514b74bf34fbe" /><Relationship Type="http://schemas.openxmlformats.org/officeDocument/2006/relationships/viewProps" Target="/ppt/viewProps.xml" Id="R9d21d50edcb845cc" /><Relationship Type="http://schemas.openxmlformats.org/officeDocument/2006/relationships/tableStyles" Target="/ppt/tableStyles.xml" Id="Re9b25e3ba0c045fa" /><Relationship Type="http://schemas.openxmlformats.org/officeDocument/2006/relationships/slide" Target="/ppt/slides/slide1.xml" Id="R94c7ec2aba7c4a08" /><Relationship Type="http://schemas.openxmlformats.org/officeDocument/2006/relationships/slide" Target="/ppt/slides/slide2.xml" Id="R8dd425dafb75406e" /><Relationship Type="http://schemas.openxmlformats.org/officeDocument/2006/relationships/slide" Target="/ppt/slides/slide3.xml" Id="Rd2e4889692a04746" /><Relationship Type="http://schemas.openxmlformats.org/officeDocument/2006/relationships/slide" Target="/ppt/slides/slide4.xml" Id="R46980ac2450d4c10" /><Relationship Type="http://schemas.openxmlformats.org/officeDocument/2006/relationships/slide" Target="/ppt/slides/slide5.xml" Id="R6a6fd3461119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38308a935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740d8fe3c4ad4" /><Relationship Type="http://schemas.openxmlformats.org/officeDocument/2006/relationships/notesMaster" Target="/ppt/notesMasters/notesMaster1.xml" Id="R3a7ca41e847147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037a4dfb146fd" /><Relationship Type="http://schemas.openxmlformats.org/officeDocument/2006/relationships/notesMaster" Target="/ppt/notesMasters/notesMaster1.xml" Id="R5bda7ca8c165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7b95cf0874a1c" /><Relationship Type="http://schemas.openxmlformats.org/officeDocument/2006/relationships/notesMaster" Target="/ppt/notesMasters/notesMaster1.xml" Id="Ra420ad6fea51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65dae49e7a4384" /><Relationship Type="http://schemas.openxmlformats.org/officeDocument/2006/relationships/notesMaster" Target="/ppt/notesMasters/notesMaster1.xml" Id="R539dafa665a4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203fd84c424c11" /><Relationship Type="http://schemas.openxmlformats.org/officeDocument/2006/relationships/notesMaster" Target="/ppt/notesMasters/notesMaster1.xml" Id="R7ce267f10048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 architecture draft: C:/Users/Patrick/Downloads/agentic skill.pptx</a:t>
            </a:r>
          </a:p>
          <a:p xmlns:a="http://schemas.openxmlformats.org/drawingml/2006/main">
            <a:r>
              <a:t>- Current implementation: C:/Users/Patrick/Desktop/agenticRAG_研究/src/agentic_rag/agent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src/agentic_rag/agent/harness.py:65-95</a:t>
            </a:r>
          </a:p>
          <a:p xmlns:a="http://schemas.openxmlformats.org/drawingml/2006/main">
            <a:r>
              <a:t>- src/agentic_rag/agent/controller.py:137-396, 674-765</a:t>
            </a:r>
          </a:p>
          <a:p xmlns:a="http://schemas.openxmlformats.org/drawingml/2006/main">
            <a:r>
              <a:t>- src/agentic_rag/agent/context.py:106-137, 300-363, 762-787</a:t>
            </a:r>
          </a:p>
          <a:p xmlns:a="http://schemas.openxmlformats.org/drawingml/2006/main">
            <a:r>
              <a:t>- src/agentic_rag/agent/models.py:100-219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src/agentic_rag/agent/models.py:621-744</a:t>
            </a:r>
          </a:p>
          <a:p xmlns:a="http://schemas.openxmlformats.org/drawingml/2006/main">
            <a:r>
              <a:t>- src/agentic_rag/agent/state.py:28-159</a:t>
            </a:r>
          </a:p>
          <a:p xmlns:a="http://schemas.openxmlformats.org/drawingml/2006/main">
            <a:r>
              <a:t>- src/agentic_rag/agent/state_management.py:53-223</a:t>
            </a:r>
          </a:p>
          <a:p xmlns:a="http://schemas.openxmlformats.org/drawingml/2006/main">
            <a:r>
              <a:t>- src/agentic_rag/agent/context.py:553-650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src/agentic_rag/agent/controller.py:232-396, 674-765</a:t>
            </a:r>
          </a:p>
          <a:p xmlns:a="http://schemas.openxmlformats.org/drawingml/2006/main">
            <a:r>
              <a:t>- src/agentic_rag/agent/handle_resolution.py</a:t>
            </a:r>
          </a:p>
          <a:p xmlns:a="http://schemas.openxmlformats.org/drawingml/2006/main">
            <a:r>
              <a:t>- src/agentic_rag/agent/repair.py</a:t>
            </a:r>
          </a:p>
          <a:p xmlns:a="http://schemas.openxmlformats.org/drawingml/2006/main">
            <a:r>
              <a:t>- src/agentic_rag/agent/validator.py</a:t>
            </a:r>
          </a:p>
          <a:p xmlns:a="http://schemas.openxmlformats.org/drawingml/2006/main">
            <a:r>
              <a:t>- src/agentic_rag/agent/router.py:37-164</a:t>
            </a:r>
          </a:p>
          <a:p xmlns:a="http://schemas.openxmlformats.org/drawingml/2006/main">
            <a:r>
              <a:t>- src/agentic_rag/agent/evidence.py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README.md:3-6, 136-169</a:t>
            </a:r>
          </a:p>
          <a:p xmlns:a="http://schemas.openxmlformats.org/drawingml/2006/main">
            <a:r>
              <a:t>- src/agentic_rag/agent/models.py:295-349, 621-744</a:t>
            </a:r>
          </a:p>
          <a:p xmlns:a="http://schemas.openxmlformats.org/drawingml/2006/main">
            <a:r>
              <a:t>- src/agentic_rag/agent/context.py:932-1017</a:t>
            </a:r>
          </a:p>
          <a:p xmlns:a="http://schemas.openxmlformats.org/drawingml/2006/main">
            <a:r>
              <a:t>- src/agentic_rag/agent/router.py:37-164</a:t>
            </a:r>
          </a:p>
          <a:p xmlns:a="http://schemas.openxmlformats.org/drawingml/2006/main">
            <a:r>
              <a:t>- src/agentic_rag/agent/state.py:28-159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aeb13b9cf43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4f1047f1f47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bca99ceb44e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a6ca1779649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5973633ae42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17f33ba6141c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5516c876446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65dc92d0c42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3125e0fa040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c127e7afc4a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f8e4f1bb347e0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3F3E241-8B11-64D9-93C2-39A6525881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0ECE65A3-050F-C4FB-5A49-E8E5B85E4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74FC0B-B00F-649B-692C-C85C87D2A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E8BE5CD-42FB-2C19-2B6C-74943BA25D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AB7969D-2E52-E301-66EB-46D2299C0F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0AEBBB3-6EDE-B973-7A09-E7A90CDBC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5948626-A6B7-402D-CC9D-8337E36EFC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AADC7E9-1A52-8807-A319-57B25A99E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4E19451B-CD3F-17FB-0813-80132075B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FFC5F796-0A27-D4DD-3628-27586879A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570BE2E-177D-AA3A-F016-AFD436530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75B7E96-4728-E19D-28E2-1E521F6941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DC2A2915-CBCE-FFEB-7432-FA878685DA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B3D008A0-E8E9-0C6F-2794-822F682B7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FE896F4-439D-25F1-55C2-A2176D50E8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4DB31FF-2F78-6221-2729-3BE4B0430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23D8BC7-EA95-45AD-A756-628979CF3D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EE3D8-933F-15CD-C395-518D7A1BD6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C0415D54-412F-1280-4AD4-26E0761E3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1525DF0C-4B2D-904A-FB67-AB7F27CA3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B75AC36D-2AB0-BFC4-39A6-C97090D683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5B3E4BB-AD29-1D76-00A7-2D7073C96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51E594-EF48-83F3-965B-107D1D148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134CA5D6-A0C3-885E-A617-5AA2F88678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F4770DC5-DFEE-268E-B8FA-8ED006E552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86EC0E7-A2FD-C666-9D3B-DD3951FB587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ADF356C-F4AF-71F7-06A9-4A9D4B383A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578EB861-CEFD-15C6-F40A-69F83E1CF9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D2D7BC9B-198E-78FF-1E5D-DF8D011A0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307FDB5-0829-2B97-3214-CB84D4A82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2E06142-8E54-63DA-C1E4-C04BE3284A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7B69214E-539D-9CE0-CE65-3209B99809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EBFFD99-A7E1-04A6-6BD1-259B98196A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BDD5DFC1-A75B-DC41-87A9-03819B1789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A762E3A-DDF5-F8B2-9B90-E9660C887F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38071D98-02E5-9199-2190-4CF4507F5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AD28ADB-8F9A-EBFE-A4AD-38CFF9C09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9D48BA20-42CC-AB58-4AD3-6F7208B4BB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8D89BFB-B094-FA8A-60C5-0C6C84355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8F9A7C99-EE0E-F84F-4218-4CFFEAF9AD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2374F96-A6D7-0DB1-961A-81DCE9CAEA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161E4774-AF50-70AC-0BC7-A09E9682DF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E3A90E9-3184-7F31-DB19-E016AD4F6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FADB6115-3103-9B6B-A56E-B519DA1790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EBB10AA-91BE-AEF9-E70C-10F80EA162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266A32B5-06CE-668C-8932-22C4F2D57F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E73F11E2-AF68-4C91-411A-0E23087F5E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F120F6FF-C6B0-0E26-2C8F-3D6809FCC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D53BE70-9C06-A1B1-B3BD-71614A175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E08AB07-FBBC-0B29-9652-335378324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2072861-2E95-5764-B4BB-2C5D75D19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B63C175B-F0D0-D8AD-F4E4-2FCA1A6373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AE33243-C399-8198-0552-675CDA20DA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55F3C288-375B-01DC-3DD4-4A946A64A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8CED6EB-0FF2-1643-A575-89DC9ECAC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C9BD3C9B-1E1A-A0E7-B26E-1E973D4AE8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D5F0B69-5791-D6B1-99F3-14F23E191F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CA0A1EC-D059-56EC-24D4-B78C3A21E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cdc0538b6f4080" /><Relationship Type="http://schemas.openxmlformats.org/officeDocument/2006/relationships/slideLayout" Target="/ppt/slideLayouts/slideLayout1.xml" Id="R2bac0c1b5bb24a0d" /><Relationship Type="http://schemas.openxmlformats.org/officeDocument/2006/relationships/slideLayout" Target="/ppt/slideLayouts/slideLayout2.xml" Id="R3aa434c0bf494e82" /><Relationship Type="http://schemas.openxmlformats.org/officeDocument/2006/relationships/slideLayout" Target="/ppt/slideLayouts/slideLayout3.xml" Id="R5b2aec0a3570480d" /><Relationship Type="http://schemas.openxmlformats.org/officeDocument/2006/relationships/slideLayout" Target="/ppt/slideLayouts/slideLayout4.xml" Id="R7a877cdd42974dc1" /><Relationship Type="http://schemas.openxmlformats.org/officeDocument/2006/relationships/slideLayout" Target="/ppt/slideLayouts/slideLayout5.xml" Id="Rf3c41915e12647f5" /><Relationship Type="http://schemas.openxmlformats.org/officeDocument/2006/relationships/slideLayout" Target="/ppt/slideLayouts/slideLayout6.xml" Id="Re959046ec1024049" /><Relationship Type="http://schemas.openxmlformats.org/officeDocument/2006/relationships/slideLayout" Target="/ppt/slideLayouts/slideLayout7.xml" Id="R9318d4acd4e94358" /><Relationship Type="http://schemas.openxmlformats.org/officeDocument/2006/relationships/slideLayout" Target="/ppt/slideLayouts/slideLayout8.xml" Id="Re1deac5475df4ec4" /><Relationship Type="http://schemas.openxmlformats.org/officeDocument/2006/relationships/slideLayout" Target="/ppt/slideLayouts/slideLayout9.xml" Id="Re5858d9d10dd4081" /><Relationship Type="http://schemas.openxmlformats.org/officeDocument/2006/relationships/slideLayout" Target="/ppt/slideLayouts/slideLayout10.xml" Id="Raff3feae28754e6f" /><Relationship Type="http://schemas.openxmlformats.org/officeDocument/2006/relationships/slideLayout" Target="/ppt/slideLayouts/slideLayout11.xml" Id="Rc87ccbe933f147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6BBE8684-B9E0-05B2-F414-F38818BF6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CB869B6-9340-B255-B6CC-F32028CCB3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B3F2B23-FB0A-8F94-4D27-9EE8A0BA50A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914B093-EE54-9C4E-86D1-875F4B88508F}" type="datetimeFigureOut">
              <a:t>2026/8/4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15D5E53-CBEB-715F-78FB-6A25E630DB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A411699-34D5-7224-BCE6-E64F6E36DA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7029EFF-CFBE-D347-803A-CB5EA004132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c0c1b5bb24a0d"/>
    <p:sldLayoutId xmlns:r="http://schemas.openxmlformats.org/officeDocument/2006/relationships" id="2147483650" r:id="R3aa434c0bf494e82"/>
    <p:sldLayoutId xmlns:r="http://schemas.openxmlformats.org/officeDocument/2006/relationships" id="2147483651" r:id="R5b2aec0a3570480d"/>
    <p:sldLayoutId xmlns:r="http://schemas.openxmlformats.org/officeDocument/2006/relationships" id="2147483652" r:id="R7a877cdd42974dc1"/>
    <p:sldLayoutId xmlns:r="http://schemas.openxmlformats.org/officeDocument/2006/relationships" id="2147483653" r:id="Rf3c41915e12647f5"/>
    <p:sldLayoutId xmlns:r="http://schemas.openxmlformats.org/officeDocument/2006/relationships" id="2147483654" r:id="Re959046ec1024049"/>
    <p:sldLayoutId xmlns:r="http://schemas.openxmlformats.org/officeDocument/2006/relationships" id="2147483655" r:id="R9318d4acd4e94358"/>
    <p:sldLayoutId xmlns:r="http://schemas.openxmlformats.org/officeDocument/2006/relationships" id="2147483656" r:id="Re1deac5475df4ec4"/>
    <p:sldLayoutId xmlns:r="http://schemas.openxmlformats.org/officeDocument/2006/relationships" id="2147483657" r:id="Re5858d9d10dd4081"/>
    <p:sldLayoutId xmlns:r="http://schemas.openxmlformats.org/officeDocument/2006/relationships" id="2147483658" r:id="Raff3feae28754e6f"/>
    <p:sldLayoutId xmlns:r="http://schemas.openxmlformats.org/officeDocument/2006/relationships" id="2147483659" r:id="Rc87ccbe933f147a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58f998925462a" /><Relationship Type="http://schemas.openxmlformats.org/officeDocument/2006/relationships/notesSlide" Target="/ppt/notesSlides/notesSlide1.xml" Id="R663bfed5e719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60945e93b24f3f" /><Relationship Type="http://schemas.openxmlformats.org/officeDocument/2006/relationships/notesSlide" Target="/ppt/notesSlides/notesSlide2.xml" Id="R55ec108866e7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2e933b3eb4adc" /><Relationship Type="http://schemas.openxmlformats.org/officeDocument/2006/relationships/notesSlide" Target="/ppt/notesSlides/notesSlide3.xml" Id="Rc127ff87383c48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4acad241754d87" /><Relationship Type="http://schemas.openxmlformats.org/officeDocument/2006/relationships/notesSlide" Target="/ppt/notesSlides/notesSlide4.xml" Id="R27d32c316128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7b5777849494d" /><Relationship Type="http://schemas.openxmlformats.org/officeDocument/2006/relationships/notesSlide" Target="/ppt/notesSlides/notesSlide5.xml" Id="Rc854d454b4f646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95CA61-9882-13EE-2C6F-D6F7D03F17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1809750"/>
            <a:ext cx="10058400" cy="1428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Agentic RAG：Single-Agent V2 架構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947B2AB-3012-A774-BE65-1E9EE7A6DD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28750" y="3619500"/>
            <a:ext cx="9334500" cy="87630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F6F1F"/>
                </a:solidFill>
                <a:latin typeface="Aptos"/>
                <a:ea typeface="Aptos"/>
                <a:cs typeface="Aptos"/>
              </a:rPr>
              <a:t>完整流程、模組責任與 State／Action／Observation 細項</a:t>
            </a:r>
          </a:p>
        </p:txBody>
      </p:sp>
    </p:spTree>
    <p:extLst>
      <p:ext uri="{BB962C8B-B14F-4D97-AF65-F5344CB8AC3E}">
        <p14:creationId xmlns:p14="http://schemas.microsoft.com/office/powerpoint/2010/main" val="4079194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3F8FD3-AFEE-F2F3-8586-85C1504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A"/>
          </a:solidFill>
          <a:ln xmlns:a="http://schemas.openxmlformats.org/drawingml/2006/main" w="19050">
            <a:solidFill>
              <a:srgbClr val="4EA72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38125" tIns="17145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6E7E057D-8D30-5C16-ECEE-8CB0929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47875"/>
            <a:ext cx="1619250" cy="714375"/>
          </a:xfrm>
          <a:prstGeom xmlns:a="http://schemas.openxmlformats.org/drawingml/2006/main" prst="roundRect">
            <a:avLst>
              <a:gd name="adj" fmla="val 2133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Policy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DDEB652D-4B56-7E63-D9F3-08E40CA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86250"/>
            <a:ext cx="223837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Observation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action・outcome・results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retrieved_tokens・error</a:t>
            </a: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51613DE6-419E-CD85-3D1F-EA085FC5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1571625" cy="1318832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A8481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 Gateway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解析・修復・驗證・路由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242DFB-5B25-F575-A83E-4445536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5241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Management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state・history・budget・usage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D0C54A9-CD43-78B4-4B61-F8BD3FE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1714500" cy="714375"/>
          </a:xfrm>
          <a:prstGeom xmlns:a="http://schemas.openxmlformats.org/drawingml/2006/main" prst="roundRect">
            <a:avLst>
              <a:gd name="adj" fmla="val 21333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PolicyContext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51" name="文字方塊 50">
            <a:extLst xmlns:a="http://schemas.openxmlformats.org/drawingml/2006/main">
              <a:ext uri="{FF2B5EF4-FFF2-40B4-BE49-F238E27FC236}">
                <a16:creationId xmlns:a16="http://schemas.microsoft.com/office/drawing/2014/main" id="{3A4FF019-DACE-BCA1-629A-4705874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V2 是受控的閉環：LLM 提議，Controller 決定能否執行</a:t>
            </a:r>
          </a:p>
        </p:txBody>
      </p:sp>
      <p:sp>
        <p:nvSpPr>
          <p:cNvPr id="52" name="ARCHITECTURE OVERVIEW-kicker">
            <a:extLst xmlns:a="http://schemas.openxmlformats.org/drawingml/2006/main">
              <a:ext uri="{FF2B5EF4-FFF2-40B4-BE49-F238E27FC236}">
                <a16:creationId xmlns:a16="http://schemas.microsoft.com/office/drawing/2014/main" id="{969EA47A-5EDB-4EF3-A734-B79E635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ARCHITECTURE OVERVIEW</a:t>
            </a:r>
          </a:p>
        </p:txBody>
      </p:sp>
      <p:sp>
        <p:nvSpPr>
          <p:cNvPr id="53" name="ARCHITECTURE OVERVIEW-title-rule">
            <a:extLst xmlns:a="http://schemas.openxmlformats.org/drawingml/2006/main">
              <a:ext uri="{FF2B5EF4-FFF2-40B4-BE49-F238E27FC236}">
                <a16:creationId xmlns:a16="http://schemas.microsoft.com/office/drawing/2014/main" id="{1134E52E-2C13-44BC-9B47-36EB338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architecture-inputs">
            <a:extLst xmlns:a="http://schemas.openxmlformats.org/drawingml/2006/main">
              <a:ext uri="{FF2B5EF4-FFF2-40B4-BE49-F238E27FC236}">
                <a16:creationId xmlns:a16="http://schemas.microsoft.com/office/drawing/2014/main" id="{F8C5F85D-0ECB-4AFC-B44B-55A0C116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15240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輸入</a:t>
            </a:r>
          </a:p>
        </p:txBody>
      </p:sp>
      <p:sp>
        <p:nvSpPr>
          <p:cNvPr id="55" name="architecture-input-bullets">
            <a:extLst xmlns:a="http://schemas.openxmlformats.org/drawingml/2006/main">
              <a:ext uri="{FF2B5EF4-FFF2-40B4-BE49-F238E27FC236}">
                <a16:creationId xmlns:a16="http://schemas.microsoft.com/office/drawing/2014/main" id="{24257149-9F3F-48B2-81BE-35DD676E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28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Protocol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
固定操作規則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Skill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
檢索策略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Query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
原始問題</a:t>
            </a:r>
          </a:p>
        </p:txBody>
      </p:sp>
      <p:sp>
        <p:nvSpPr>
          <p:cNvPr id="56" name="policy-decision">
            <a:extLst xmlns:a="http://schemas.openxmlformats.org/drawingml/2006/main">
              <a:ext uri="{FF2B5EF4-FFF2-40B4-BE49-F238E27FC236}">
                <a16:creationId xmlns:a16="http://schemas.microsoft.com/office/drawing/2014/main" id="{D64F63E9-6052-48F2-B314-91DDFD3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7132"/>
            </a:solidFill>
            <a:prstDash val="dash"/>
          </a:ln>
        </p:spPr>
        <p:txBody>
          <a:bodyPr xmlns:a="http://schemas.openxmlformats.org/drawingml/2006/main" wrap="square" lIns="133350" tIns="114300" rIns="133350" bIns="114300" anchor="ctr">
            <a:normAutofit fontScale="863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PolicyDecision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Assessment + One Action</a:t>
            </a:r>
          </a:p>
        </p:txBody>
      </p:sp>
      <p:sp>
        <p:nvSpPr>
          <p:cNvPr id="57" name="typed-substrate">
            <a:extLst xmlns:a="http://schemas.openxmlformats.org/drawingml/2006/main">
              <a:ext uri="{FF2B5EF4-FFF2-40B4-BE49-F238E27FC236}">
                <a16:creationId xmlns:a16="http://schemas.microsoft.com/office/drawing/2014/main" id="{7995E772-3E71-46A5-B2BF-203B360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19250"/>
            <a:ext cx="2238375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Typed Substrate</a:t>
            </a:r>
          </a:p>
        </p:txBody>
      </p:sp>
      <p:sp>
        <p:nvSpPr>
          <p:cNvPr id="58" name="typed-node-d">
            <a:extLst xmlns:a="http://schemas.openxmlformats.org/drawingml/2006/main">
              <a:ext uri="{FF2B5EF4-FFF2-40B4-BE49-F238E27FC236}">
                <a16:creationId xmlns:a16="http://schemas.microsoft.com/office/drawing/2014/main" id="{8CF0201A-A59B-4ADD-AB00-A2C5B1E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9" name="typed-node-c">
            <a:extLst xmlns:a="http://schemas.openxmlformats.org/drawingml/2006/main">
              <a:ext uri="{FF2B5EF4-FFF2-40B4-BE49-F238E27FC236}">
                <a16:creationId xmlns:a16="http://schemas.microsoft.com/office/drawing/2014/main" id="{6D4DA5DE-DF1F-491C-9FBF-39F5868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38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0" name="typed-node-s">
            <a:extLst xmlns:a="http://schemas.openxmlformats.org/drawingml/2006/main">
              <a:ext uri="{FF2B5EF4-FFF2-40B4-BE49-F238E27FC236}">
                <a16:creationId xmlns:a16="http://schemas.microsoft.com/office/drawing/2014/main" id="{C912D7F6-4DED-494F-9A8C-0A445B9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38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61" name="typed-node-e">
            <a:extLst xmlns:a="http://schemas.openxmlformats.org/drawingml/2006/main">
              <a:ext uri="{FF2B5EF4-FFF2-40B4-BE49-F238E27FC236}">
                <a16:creationId xmlns:a16="http://schemas.microsoft.com/office/drawing/2014/main" id="{7A8047BD-9EAF-4C70-9DBE-E4DD3E4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62" name="typed-node-a">
            <a:extLst xmlns:a="http://schemas.openxmlformats.org/drawingml/2006/main">
              <a:ext uri="{FF2B5EF4-FFF2-40B4-BE49-F238E27FC236}">
                <a16:creationId xmlns:a16="http://schemas.microsoft.com/office/drawing/2014/main" id="{D38A20C3-01DD-4F84-9B9D-A05B28F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3" name="typed-substrate-legend">
            <a:extLst xmlns:a="http://schemas.openxmlformats.org/drawingml/2006/main">
              <a:ext uri="{FF2B5EF4-FFF2-40B4-BE49-F238E27FC236}">
                <a16:creationId xmlns:a16="http://schemas.microsoft.com/office/drawing/2014/main" id="{F86ADF89-3A31-4EAA-8465-0B50272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29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37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Document・Chunk・Sentence・Entity・Alias</a:t>
            </a:r>
          </a:p>
        </p:txBody>
      </p:sp>
      <p:cxnSp>
        <p:nvCxnSpPr>
          <p:cNvPr id="94" name=""/>
          <p:cNvCxnSpPr>
            <a:stCxn xmlns:a="http://schemas.openxmlformats.org/drawingml/2006/main" id="54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2000250" y="2405063"/>
            <a:ext cx="7620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3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24050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5810250" y="2762250"/>
            <a:ext cx="9525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5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6858000" y="2612041"/>
            <a:ext cx="285750" cy="87410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7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715375" y="2612041"/>
            <a:ext cx="762000" cy="12639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7132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57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596563" y="38576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082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6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 flipV="1">
            <a:off x="7096125" y="4738688"/>
            <a:ext cx="2381250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6082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1" idx="1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H="1" flipV="1">
            <a:off x="3619500" y="2762250"/>
            <a:ext cx="952500" cy="197643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EA72E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56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5834063" y="3876675"/>
            <a:ext cx="71438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EA72E"/>
            </a:solidFill>
            <a:prstDash val="dash"/>
            <a:tailEnd type="triangle" w="sm" len="sm"/>
          </a:ln>
        </p:spPr>
      </p:cxnSp>
      <p:sp>
        <p:nvSpPr>
          <p:cNvPr id="73" name="assessment-label">
            <a:extLst xmlns:a="http://schemas.openxmlformats.org/drawingml/2006/main">
              <a:ext uri="{FF2B5EF4-FFF2-40B4-BE49-F238E27FC236}">
                <a16:creationId xmlns:a16="http://schemas.microsoft.com/office/drawing/2014/main" id="{F4836ECE-1655-4B4A-9235-AAA8BBB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Assessment → State</a:t>
            </a:r>
          </a:p>
        </p:txBody>
      </p:sp>
      <p:sp>
        <p:nvSpPr>
          <p:cNvPr id="74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E4F26D0E-30AD-4000-B80F-A871A830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FINISH → EvidenceResolver</a:t>
            </a:r>
          </a:p>
          <a:p xmlns:a="http://schemas.openxmlformats.org/drawingml/2006/main">
            <a:pPr algn="ctr">
              <a:defRPr sz="1125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→ grounded final answer</a:t>
            </a:r>
          </a:p>
        </p:txBody>
      </p:sp>
    </p:spTree>
    <p:extLst>
      <p:ext uri="{BB962C8B-B14F-4D97-AF65-F5344CB8AC3E}">
        <p14:creationId xmlns:p14="http://schemas.microsoft.com/office/powerpoint/2010/main" val="2944115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3F8FD3-AFEE-F2F3-8586-85C1504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28637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A"/>
          </a:solidFill>
          <a:ln xmlns:a="http://schemas.openxmlformats.org/drawingml/2006/main" w="19050">
            <a:solidFill>
              <a:srgbClr val="4EA72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0" tIns="17145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ControllerState（internal）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6E7E057D-8D30-5C16-ECEE-8CB0929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StateUpdater 持續累積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BBCB8E52-420E-080B-D25B-926DDBC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10" name="橢圓 9">
            <a:extLst xmlns:a="http://schemas.openxmlformats.org/drawingml/2006/main">
              <a:ext uri="{FF2B5EF4-FFF2-40B4-BE49-F238E27FC236}">
                <a16:creationId xmlns:a16="http://schemas.microsoft.com/office/drawing/2014/main" id="{258A511B-AAF4-2100-8E03-A75256A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3476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23E8FAC2-DA66-2DF3-F0AC-739F3293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03DA42A1-08C0-3D0F-C54F-A29C4EA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867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242DFB-5B25-F575-A83E-4445536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14312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2F6F1F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V2：Evidence 累積保留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D0C54A9-CD43-78B4-4B61-F8BD3FE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2143125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923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 → Context Builder</a:t>
            </a:r>
          </a:p>
        </p:txBody>
      </p:sp>
      <p:sp>
        <p:nvSpPr>
          <p:cNvPr id="51" name="文字方塊 50">
            <a:extLst xmlns:a="http://schemas.openxmlformats.org/drawingml/2006/main">
              <a:ext uri="{FF2B5EF4-FFF2-40B4-BE49-F238E27FC236}">
                <a16:creationId xmlns:a16="http://schemas.microsoft.com/office/drawing/2014/main" id="{3A4FF019-DACE-BCA1-629A-4705874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State Management 是每個 Episode 唯一的可變狀態來源</a:t>
            </a:r>
          </a:p>
        </p:txBody>
      </p:sp>
      <p:sp>
        <p:nvSpPr>
          <p:cNvPr id="52" name="STATE CONTRACT-kicker">
            <a:extLst xmlns:a="http://schemas.openxmlformats.org/drawingml/2006/main">
              <a:ext uri="{FF2B5EF4-FFF2-40B4-BE49-F238E27FC236}">
                <a16:creationId xmlns:a16="http://schemas.microsoft.com/office/drawing/2014/main" id="{F0A07057-C811-4705-94F7-8434DCE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STATE CONTRACT</a:t>
            </a:r>
          </a:p>
        </p:txBody>
      </p:sp>
      <p:sp>
        <p:nvSpPr>
          <p:cNvPr id="53" name="STATE CONTRACT-title-rule">
            <a:extLst xmlns:a="http://schemas.openxmlformats.org/drawingml/2006/main">
              <a:ext uri="{FF2B5EF4-FFF2-40B4-BE49-F238E27FC236}">
                <a16:creationId xmlns:a16="http://schemas.microsoft.com/office/drawing/2014/main" id="{3103E945-C2B2-44A4-BF12-442CECC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internal-state-details">
            <a:extLst xmlns:a="http://schemas.openxmlformats.org/drawingml/2006/main">
              <a:ext uri="{FF2B5EF4-FFF2-40B4-BE49-F238E27FC236}">
                <a16:creationId xmlns:a16="http://schemas.microsoft.com/office/drawing/2014/main" id="{C87EA222-69EF-4190-BCAA-32039A9E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4238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12"/>
              </a:spcAft>
              <a:buChar char="•"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Identity &amp; visibility：</a:t>
            </a: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visible_entity_ids、visible_sentence_ids、visible_chunk_ids、node_handles、handle_registry。</a:t>
            </a:r>
          </a:p>
          <a:p xmlns:a="http://schemas.openxmlformats.org/drawingml/2006/main">
            <a:pPr marL="19" indent="-11" algn="l">
              <a:spcAft>
                <a:spcPts val="12"/>
              </a:spcAft>
              <a:buChar char="•"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Evidence memory：</a:t>
            </a: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eligible_sentence_ids、read_chunk_ids、selected_evidence_refs；V2 會累積已選證據。</a:t>
            </a:r>
          </a:p>
          <a:p xmlns:a="http://schemas.openxmlformats.org/drawingml/2006/main">
            <a:pPr marL="19" indent="-11" algn="l">
              <a:spcAft>
                <a:spcPts val="12"/>
              </a:spcAft>
              <a:buChar char="•"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Control signals：</a:t>
            </a: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last_assessment、newest_observation、action_signatures，支援恢復與去重。</a:t>
            </a:r>
          </a:p>
          <a:p xmlns:a="http://schemas.openxmlformats.org/drawingml/2006/main">
            <a:pPr marL="19" indent="-11" algn="l">
              <a:spcAft>
                <a:spcPts val="12"/>
              </a:spcAft>
              <a:buChar char="•"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Budget &amp; progress：</a:t>
            </a: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step、policy_attempts，以及剩餘 step／attempt／retrieved-token budget。</a:t>
            </a:r>
          </a:p>
        </p:txBody>
      </p:sp>
      <p:sp>
        <p:nvSpPr>
          <p:cNvPr id="55" name="policy-state-view-panel">
            <a:extLst xmlns:a="http://schemas.openxmlformats.org/drawingml/2006/main">
              <a:ext uri="{FF2B5EF4-FFF2-40B4-BE49-F238E27FC236}">
                <a16:creationId xmlns:a16="http://schemas.microsoft.com/office/drawing/2014/main" id="{23642D89-7F9F-4D8D-A79F-5D557C0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4619625"/>
          </a:xfrm>
          <a:prstGeom xmlns:a="http://schemas.openxmlformats.org/drawingml/2006/main" prst="roundRect">
            <a:avLst>
              <a:gd name="adj" fmla="val 288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policy-state-view-header">
            <a:extLst xmlns:a="http://schemas.openxmlformats.org/drawingml/2006/main">
              <a:ext uri="{FF2B5EF4-FFF2-40B4-BE49-F238E27FC236}">
                <a16:creationId xmlns:a16="http://schemas.microsoft.com/office/drawing/2014/main" id="{18ECEA5F-19B2-4832-8DBE-758FE118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19250"/>
            <a:ext cx="276225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PolicyStateView（LLM-visible）</a:t>
            </a:r>
          </a:p>
        </p:txBody>
      </p:sp>
      <p:sp>
        <p:nvSpPr>
          <p:cNvPr id="57" name="policy-state-view-projection">
            <a:extLst xmlns:a="http://schemas.openxmlformats.org/drawingml/2006/main">
              <a:ext uri="{FF2B5EF4-FFF2-40B4-BE49-F238E27FC236}">
                <a16:creationId xmlns:a16="http://schemas.microsoft.com/office/drawing/2014/main" id="{92C69D0C-3CF4-4FF9-B828-BA82DACC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19250"/>
            <a:ext cx="1762125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A8481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handle-safe projection</a:t>
            </a:r>
          </a:p>
        </p:txBody>
      </p:sp>
      <p:sp>
        <p:nvSpPr>
          <p:cNvPr id="58" name="policy-projection-marker">
            <a:extLst xmlns:a="http://schemas.openxmlformats.org/drawingml/2006/main">
              <a:ext uri="{FF2B5EF4-FFF2-40B4-BE49-F238E27FC236}">
                <a16:creationId xmlns:a16="http://schemas.microsoft.com/office/drawing/2014/main" id="{58B90F05-C8FE-4BFD-939B-4616AA4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59" name="policy-state-view-fields">
            <a:extLst xmlns:a="http://schemas.openxmlformats.org/drawingml/2006/main">
              <a:ext uri="{FF2B5EF4-FFF2-40B4-BE49-F238E27FC236}">
                <a16:creationId xmlns:a16="http://schemas.microsoft.com/office/drawing/2014/main" id="{EBE9ABF0-9735-4E6A-AF01-BEFB4F50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19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last_valid_assessment：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上一次有效的 status 與 missing_information。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selected_evidence：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已解析成可讀文字的 Sentence／已 READ Chunk。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latest_observation：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上一個 action 的精簡、handle-safe 結果。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actionable_handles：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目前可 READ、可 EXPAND、可作證據的 E#/S#/C#。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allowed_expansions：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每個 expansion kind 對應的合法來源 handle。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attempted_actions：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結構化歷史：驗證、錯誤、修復、novel node 與 retrieved tokens。</a:t>
            </a:r>
          </a:p>
          <a:p xmlns:a="http://schemas.openxmlformats.org/drawingml/2006/main">
            <a:pPr marL="19" indent="-11" algn="l">
              <a:spcAft>
                <a:spcPts val="7"/>
              </a:spcAft>
              <a:buChar char="•"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budget：</a:t>
            </a: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remaining_steps、remaining_policy_attempts、remaining_retrieved_tokens。</a:t>
            </a:r>
          </a:p>
        </p:txBody>
      </p:sp>
      <p:cxnSp>
        <p:nvCxnSpPr>
          <p:cNvPr id="79" name=""/>
          <p:cNvCxnSpPr>
            <a:stCxn xmlns:a="http://schemas.openxmlformats.org/drawingml/2006/main" id="29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5810250" y="3738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97132"/>
            </a:solidFill>
            <a:prstDash val="solid"/>
            <a:tailEnd type="triangle" w="sm" len="sm"/>
          </a:ln>
        </p:spPr>
      </p:cxnSp>
      <p:sp>
        <p:nvSpPr>
          <p:cNvPr id="61" name="state-projection-label">
            <a:extLst xmlns:a="http://schemas.openxmlformats.org/drawingml/2006/main">
              <a:ext uri="{FF2B5EF4-FFF2-40B4-BE49-F238E27FC236}">
                <a16:creationId xmlns:a16="http://schemas.microsoft.com/office/drawing/2014/main" id="{3393AEE4-42F8-4D32-82A5-E2936787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project()</a:t>
            </a:r>
          </a:p>
        </p:txBody>
      </p:sp>
    </p:spTree>
    <p:extLst>
      <p:ext uri="{BB962C8B-B14F-4D97-AF65-F5344CB8AC3E}">
        <p14:creationId xmlns:p14="http://schemas.microsoft.com/office/powerpoint/2010/main" val="29441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3F8FD3-AFEE-F2F3-8586-85C1504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14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A"/>
          </a:solidFill>
          <a:ln xmlns:a="http://schemas.openxmlformats.org/drawingml/2006/main" w="19050">
            <a:solidFill>
              <a:srgbClr val="4EA72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0" tIns="22860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INPUT：PolicyDecision + Current State Snapshot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6E7E057D-8D30-5C16-ECEE-8CB0929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Resolve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E#/S#/C# → stable ID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DDEB652D-4B56-7E63-D9F3-08E40CA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286375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240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Validator 主要檢查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BBCB8E52-420E-080B-D25B-926DDBC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橢圓 9">
            <a:extLst xmlns:a="http://schemas.openxmlformats.org/drawingml/2006/main">
              <a:ext uri="{FF2B5EF4-FFF2-40B4-BE49-F238E27FC236}">
                <a16:creationId xmlns:a16="http://schemas.microsoft.com/office/drawing/2014/main" id="{258A511B-AAF4-2100-8E03-A75256A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23E8FAC2-DA66-2DF3-F0AC-739F3293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3750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03DA42A1-08C0-3D0F-C54F-A29C4EA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375" y="2047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40AF8DA2-EB0C-66B1-E8DC-C0C243F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9050" tIns="19050" rIns="19050" bIns="1905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51613DE6-419E-CD85-3D1F-EA085FC5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95500" cy="100896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 Route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SEARCH・EXPAND・READ・FINISH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242DFB-5B25-F575-A83E-4445536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Repair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僅修復可安全判定的欄位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D0C54A9-CD43-78B4-4B61-F8BD3FE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A8481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Validate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合法性・證據・去重</a:t>
            </a:r>
          </a:p>
        </p:txBody>
      </p:sp>
      <p:sp>
        <p:nvSpPr>
          <p:cNvPr id="51" name="文字方塊 50">
            <a:extLst xmlns:a="http://schemas.openxmlformats.org/drawingml/2006/main">
              <a:ext uri="{FF2B5EF4-FFF2-40B4-BE49-F238E27FC236}">
                <a16:creationId xmlns:a16="http://schemas.microsoft.com/office/drawing/2014/main" id="{3A4FF019-DACE-BCA1-629A-4705874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Action Gateway 讓 LLM 決策安全、可執行且可稽核</a:t>
            </a:r>
          </a:p>
        </p:txBody>
      </p:sp>
      <p:sp>
        <p:nvSpPr>
          <p:cNvPr id="52" name="ACTION CONTROL LAYER-kicker">
            <a:extLst xmlns:a="http://schemas.openxmlformats.org/drawingml/2006/main">
              <a:ext uri="{FF2B5EF4-FFF2-40B4-BE49-F238E27FC236}">
                <a16:creationId xmlns:a16="http://schemas.microsoft.com/office/drawing/2014/main" id="{40EB1415-A40B-4E2F-BDC1-B6F2FA9C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ACTION CONTROL LAYER</a:t>
            </a:r>
          </a:p>
        </p:txBody>
      </p:sp>
      <p:sp>
        <p:nvSpPr>
          <p:cNvPr id="53" name="ACTION CONTROL LAYER-title-rule">
            <a:extLst xmlns:a="http://schemas.openxmlformats.org/drawingml/2006/main">
              <a:ext uri="{FF2B5EF4-FFF2-40B4-BE49-F238E27FC236}">
                <a16:creationId xmlns:a16="http://schemas.microsoft.com/office/drawing/2014/main" id="{FE709F93-CB78-487A-9C0F-732B34C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cxnSp>
        <p:nvCxnSpPr>
          <p:cNvPr id="75" name=""/>
          <p:cNvCxnSpPr>
            <a:stCxn xmlns:a="http://schemas.openxmlformats.org/drawingml/2006/main" id="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000375" y="2857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5715000" y="2857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3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429625" y="2857500"/>
            <a:ext cx="619125" cy="282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7132"/>
            </a:solidFill>
            <a:prstDash val="solid"/>
            <a:tailEnd type="triangle" w="sm" len="sm"/>
          </a:ln>
        </p:spPr>
      </p:cxnSp>
      <p:sp>
        <p:nvSpPr>
          <p:cNvPr id="57" name="gateway-invalid-path">
            <a:extLst xmlns:a="http://schemas.openxmlformats.org/drawingml/2006/main">
              <a:ext uri="{FF2B5EF4-FFF2-40B4-BE49-F238E27FC236}">
                <a16:creationId xmlns:a16="http://schemas.microsoft.com/office/drawing/2014/main" id="{2D46EBA7-71CC-42A7-9795-0656C1FD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38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invalid / duplicate → error Observation</a:t>
            </a:r>
          </a:p>
        </p:txBody>
      </p:sp>
      <p:sp>
        <p:nvSpPr>
          <p:cNvPr id="58" name="validator-checks">
            <a:extLst xmlns:a="http://schemas.openxmlformats.org/drawingml/2006/main">
              <a:ext uri="{FF2B5EF4-FFF2-40B4-BE49-F238E27FC236}">
                <a16:creationId xmlns:a16="http://schemas.microsoft.com/office/drawing/2014/main" id="{A24CAAC4-5B64-4F03-ACAE-C63284B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Handle：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是否存在、類型正確、目前可見且屬於 scope。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Action：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EXPAND kind／direction、READ 前置條件、搜尋組合是否合法。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Evidence：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Sentence 完整、Chunk 已 READ、FINISH refs 已被選取。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Novelty：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action signature 是否已執行，避免重複操作。</a:t>
            </a:r>
          </a:p>
        </p:txBody>
      </p:sp>
      <p:sp>
        <p:nvSpPr>
          <p:cNvPr id="59" name="gateway-outputs">
            <a:extLst xmlns:a="http://schemas.openxmlformats.org/drawingml/2006/main">
              <a:ext uri="{FF2B5EF4-FFF2-40B4-BE49-F238E27FC236}">
                <a16:creationId xmlns:a16="http://schemas.microsoft.com/office/drawing/2014/main" id="{A814CC37-1F8C-4045-B61E-3D19B84E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5476875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A3F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A3F18"/>
                </a:solidFill>
                <a:latin typeface="Aptos"/>
                <a:ea typeface="Aptos"/>
                <a:cs typeface="Aptos"/>
              </a:rPr>
              <a:t>Gateway outputs</a:t>
            </a:r>
          </a:p>
        </p:txBody>
      </p:sp>
      <p:sp>
        <p:nvSpPr>
          <p:cNvPr id="60" name="gateway-output-bullets">
            <a:extLst xmlns:a="http://schemas.openxmlformats.org/drawingml/2006/main">
              <a:ext uri="{FF2B5EF4-FFF2-40B4-BE49-F238E27FC236}">
                <a16:creationId xmlns:a16="http://schemas.microsoft.com/office/drawing/2014/main" id="{7B10C0AB-0E9F-488F-8F16-AAF6AE4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3316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 retrieval：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交給 ActionRouter，再呼叫 Retriever、ExpansionEngine 或 READ。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Invalid／duplicate：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產生 error Observation，保留錯誤細節供下一輪恢復。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EvidenceResolver 驗證引用並直接回傳 Policy 提供的 grounded answer。</a:t>
            </a:r>
          </a:p>
          <a:p xmlns:a="http://schemas.openxmlformats.org/drawingml/2006/main">
            <a:pPr marL="19" indent="-11" algn="l">
              <a:spcAft>
                <a:spcPts val="4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error：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寫入 trajectory 與 usage，再以明確 termination reason 結束。</a:t>
            </a:r>
          </a:p>
        </p:txBody>
      </p:sp>
    </p:spTree>
    <p:extLst>
      <p:ext uri="{BB962C8B-B14F-4D97-AF65-F5344CB8AC3E}">
        <p14:creationId xmlns:p14="http://schemas.microsoft.com/office/powerpoint/2010/main" val="2944115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3F8FD3-AFEE-F2F3-8586-85C1504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381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A"/>
          </a:solidFill>
          <a:ln xmlns:a="http://schemas.openxmlformats.org/drawingml/2006/main" w="19050">
            <a:solidFill>
              <a:srgbClr val="4EA72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85750" tIns="171450" rIns="1143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Observation contract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6E7E057D-8D30-5C16-ECEE-8CB0929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23837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755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Observation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Controller-owned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DDEB652D-4B56-7E63-D9F3-08E40CA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23837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2F6F1F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755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Observation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handle-safe projection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242DFB-5B25-F575-A83E-4445536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2047875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A84817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StateUpdater → project()</a:t>
            </a:r>
          </a:p>
        </p:txBody>
      </p:sp>
      <p:sp>
        <p:nvSpPr>
          <p:cNvPr id="51" name="文字方塊 50">
            <a:extLst xmlns:a="http://schemas.openxmlformats.org/drawingml/2006/main">
              <a:ext uri="{FF2B5EF4-FFF2-40B4-BE49-F238E27FC236}">
                <a16:creationId xmlns:a16="http://schemas.microsoft.com/office/drawing/2014/main" id="{3A4FF019-DACE-BCA1-629A-4705874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Observation 對內保留完整紀錄，對 LLM 只投影安全欄位</a:t>
            </a:r>
          </a:p>
        </p:txBody>
      </p:sp>
      <p:sp>
        <p:nvSpPr>
          <p:cNvPr id="52" name="OBSERVATION &amp; SUBSTRATE-kicker">
            <a:extLst xmlns:a="http://schemas.openxmlformats.org/drawingml/2006/main">
              <a:ext uri="{FF2B5EF4-FFF2-40B4-BE49-F238E27FC236}">
                <a16:creationId xmlns:a16="http://schemas.microsoft.com/office/drawing/2014/main" id="{335F145F-A448-400B-80C4-D52995D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1F"/>
                </a:solidFill>
                <a:latin typeface="Aptos"/>
                <a:ea typeface="Aptos"/>
                <a:cs typeface="Aptos"/>
              </a:rPr>
              <a:t>OBSERVATION &amp; SUBSTRATE</a:t>
            </a:r>
          </a:p>
        </p:txBody>
      </p:sp>
      <p:sp>
        <p:nvSpPr>
          <p:cNvPr id="53" name="OBSERVATION &amp; SUBSTRATE-title-rule">
            <a:extLst xmlns:a="http://schemas.openxmlformats.org/drawingml/2006/main">
              <a:ext uri="{FF2B5EF4-FFF2-40B4-BE49-F238E27FC236}">
                <a16:creationId xmlns:a16="http://schemas.microsoft.com/office/drawing/2014/main" id="{BA3C4759-94E2-487D-88BC-4901322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raw-observation-fields">
            <a:extLst xmlns:a="http://schemas.openxmlformats.org/drawingml/2006/main">
              <a:ext uri="{FF2B5EF4-FFF2-40B4-BE49-F238E27FC236}">
                <a16:creationId xmlns:a16="http://schemas.microsoft.com/office/drawing/2014/main" id="{89E9ADDD-52C2-42FE-9646-2F4E3BD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238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status／action：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內部執行狀態與 stable-ID action。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results：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完整工具回傳資料。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novelty：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novel_node_ids、already_seen_node_ids。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metadata：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visibility_delta、truncation 與 budget flags。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usage：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retrieved_tokens。</a:t>
            </a:r>
          </a:p>
        </p:txBody>
      </p:sp>
      <p:sp>
        <p:nvSpPr>
          <p:cNvPr id="55" name="policy-observation-fields">
            <a:extLst xmlns:a="http://schemas.openxmlformats.org/drawingml/2006/main">
              <a:ext uri="{FF2B5EF4-FFF2-40B4-BE49-F238E27FC236}">
                <a16:creationId xmlns:a16="http://schemas.microsoft.com/office/drawing/2014/main" id="{69D4EE06-0BA7-4A63-9958-980BBA4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38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339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action_id／action：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僅使用 E#/S#/C# handles。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outcome：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success、empty、invalid、duplicate、budget rejected、tool error。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results：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移除 stable IDs 與 Controller-only metadata。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error：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code、message、retryable、合法 handle 提示。</a:t>
            </a:r>
          </a:p>
          <a:p xmlns:a="http://schemas.openxmlformats.org/drawingml/2006/main">
            <a:pPr marL="19" indent="-11" algn="l">
              <a:spcAft>
                <a:spcPts val="8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usage：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只暴露 retrieved_tokens。</a:t>
            </a:r>
          </a:p>
        </p:txBody>
      </p:sp>
      <p:sp>
        <p:nvSpPr>
          <p:cNvPr id="56" name="typed-substrate-panel">
            <a:extLst xmlns:a="http://schemas.openxmlformats.org/drawingml/2006/main">
              <a:ext uri="{FF2B5EF4-FFF2-40B4-BE49-F238E27FC236}">
                <a16:creationId xmlns:a16="http://schemas.microsoft.com/office/drawing/2014/main" id="{DDB08CA4-6012-474A-8196-146601F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381625" cy="4619625"/>
          </a:xfrm>
          <a:prstGeom xmlns:a="http://schemas.openxmlformats.org/drawingml/2006/main" prst="roundRect">
            <a:avLst>
              <a:gd name="adj" fmla="val 288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typed-substrate-header">
            <a:extLst xmlns:a="http://schemas.openxmlformats.org/drawingml/2006/main">
              <a:ext uri="{FF2B5EF4-FFF2-40B4-BE49-F238E27FC236}">
                <a16:creationId xmlns:a16="http://schemas.microsoft.com/office/drawing/2014/main" id="{7CE111A9-11E1-427E-83FB-5C3641A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476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Typed Substrate</a:t>
            </a:r>
          </a:p>
        </p:txBody>
      </p:sp>
      <p:sp>
        <p:nvSpPr>
          <p:cNvPr id="58" name="substrate-node-d">
            <a:extLst xmlns:a="http://schemas.openxmlformats.org/drawingml/2006/main">
              <a:ext uri="{FF2B5EF4-FFF2-40B4-BE49-F238E27FC236}">
                <a16:creationId xmlns:a16="http://schemas.microsoft.com/office/drawing/2014/main" id="{858B140C-30C9-43FC-B55F-9A8A1F82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9" name="substrate-node-c">
            <a:extLst xmlns:a="http://schemas.openxmlformats.org/drawingml/2006/main">
              <a:ext uri="{FF2B5EF4-FFF2-40B4-BE49-F238E27FC236}">
                <a16:creationId xmlns:a16="http://schemas.microsoft.com/office/drawing/2014/main" id="{ABFF704C-7D74-46BE-8D17-0A4B64D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0" name="substrate-node-s">
            <a:extLst xmlns:a="http://schemas.openxmlformats.org/drawingml/2006/main">
              <a:ext uri="{FF2B5EF4-FFF2-40B4-BE49-F238E27FC236}">
                <a16:creationId xmlns:a16="http://schemas.microsoft.com/office/drawing/2014/main" id="{B926662D-2C91-4F82-8F42-D7A70D2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61" name="substrate-node-e">
            <a:extLst xmlns:a="http://schemas.openxmlformats.org/drawingml/2006/main">
              <a:ext uri="{FF2B5EF4-FFF2-40B4-BE49-F238E27FC236}">
                <a16:creationId xmlns:a16="http://schemas.microsoft.com/office/drawing/2014/main" id="{4916D1ED-ADC5-49A4-9117-68A638D3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62" name="substrate-node-a">
            <a:extLst xmlns:a="http://schemas.openxmlformats.org/drawingml/2006/main">
              <a:ext uri="{FF2B5EF4-FFF2-40B4-BE49-F238E27FC236}">
                <a16:creationId xmlns:a16="http://schemas.microsoft.com/office/drawing/2014/main" id="{0F78B565-CC7E-4A14-AC4C-68A9DB39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72E"/>
          </a:solidFill>
          <a:ln xmlns:a="http://schemas.openxmlformats.org/drawingml/2006/main" w="14288">
            <a:solidFill>
              <a:srgbClr val="0E284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3" name="substrate-node-legend">
            <a:extLst xmlns:a="http://schemas.openxmlformats.org/drawingml/2006/main">
              <a:ext uri="{FF2B5EF4-FFF2-40B4-BE49-F238E27FC236}">
                <a16:creationId xmlns:a16="http://schemas.microsoft.com/office/drawing/2014/main" id="{95A85FD3-9A14-4AB8-962A-73AFDD47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44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Document → Chunk → Sentence；Entity 透過 Mention／Alias 形成語意關係</a:t>
            </a:r>
          </a:p>
        </p:txBody>
      </p:sp>
      <p:sp>
        <p:nvSpPr>
          <p:cNvPr id="64" name="substrate-actions">
            <a:extLst xmlns:a="http://schemas.openxmlformats.org/drawingml/2006/main">
              <a:ext uri="{FF2B5EF4-FFF2-40B4-BE49-F238E27FC236}">
                <a16:creationId xmlns:a16="http://schemas.microsoft.com/office/drawing/2014/main" id="{34263366-3893-465D-95E3-693E575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" indent="-11" algn="l">
              <a:spcAft>
                <a:spcPts val="5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LEXICAL→Entity；BM25／DENSE→Entity、Sentence 或 Chunk。</a:t>
            </a:r>
          </a:p>
          <a:p xmlns:a="http://schemas.openxmlformats.org/drawingml/2006/main">
            <a:pPr marL="19" indent="-11" algn="l">
              <a:spcAft>
                <a:spcPts val="5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EXPAND：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沿合法 typed edge 取得局部鄰居；不是任意遍歷整張圖。</a:t>
            </a:r>
          </a:p>
          <a:p xmlns:a="http://schemas.openxmlformats.org/drawingml/2006/main">
            <a:pPr marL="19" indent="-11" algn="l">
              <a:spcAft>
                <a:spcPts val="5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讀取已知 C# 的完整 Chunk，並使內容具備證據資格。</a:t>
            </a:r>
          </a:p>
          <a:p xmlns:a="http://schemas.openxmlformats.org/drawingml/2006/main">
            <a:pPr marL="19" indent="-11" algn="l">
              <a:spcAft>
                <a:spcPts val="5"/>
              </a:spcAft>
              <a:buChar char="•"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FINISH：</a:t>
            </a: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不再查詢 Substrate；改由 EvidenceResolver 解決引用。</a:t>
            </a:r>
          </a:p>
        </p:txBody>
      </p:sp>
      <p:sp>
        <p:nvSpPr>
          <p:cNvPr id="65" name="evidence-eligibility">
            <a:extLst xmlns:a="http://schemas.openxmlformats.org/drawingml/2006/main">
              <a:ext uri="{FF2B5EF4-FFF2-40B4-BE49-F238E27FC236}">
                <a16:creationId xmlns:a16="http://schemas.microsoft.com/office/drawing/2014/main" id="{E0E6BC77-64C0-41E4-BC92-79FBABB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4762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13335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Evidence eligibility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完整 Sentence：可直接引用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Chunk：必須先 READ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Entity：永遠不是 evidence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• Preview：僅供 navigation</a:t>
            </a:r>
          </a:p>
        </p:txBody>
      </p:sp>
      <p:cxnSp>
        <p:nvCxnSpPr>
          <p:cNvPr id="86" name=""/>
          <p:cNvCxnSpPr>
            <a:stCxn xmlns:a="http://schemas.openxmlformats.org/drawingml/2006/main" id="29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905500" y="3738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7132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944115169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2026-08-05T10:35:05.7820000Z</dcterms:created>
  <dcterms:modified xsi:type="dcterms:W3CDTF">2026-08-05T10:35:05.7820000Z</dcterms:modified>
</coreProperties>
</file>